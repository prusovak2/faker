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6" r:id="rId1"/>
  </p:sldMasterIdLst>
  <p:sldIdLst>
    <p:sldId id="256" r:id="rId2"/>
    <p:sldId id="258" r:id="rId3"/>
    <p:sldId id="257" r:id="rId4"/>
    <p:sldId id="269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70" r:id="rId16"/>
    <p:sldId id="274" r:id="rId17"/>
    <p:sldId id="271" r:id="rId18"/>
    <p:sldId id="272" r:id="rId19"/>
    <p:sldId id="273" r:id="rId20"/>
    <p:sldId id="275" r:id="rId21"/>
    <p:sldId id="276" r:id="rId22"/>
    <p:sldId id="277" r:id="rId23"/>
    <p:sldId id="278" r:id="rId24"/>
    <p:sldId id="279" r:id="rId25"/>
    <p:sldId id="280" r:id="rId26"/>
  </p:sldIdLst>
  <p:sldSz cx="9144000" cy="6858000" type="screen4x3"/>
  <p:notesSz cx="6858000" cy="9144000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10" d="100"/>
          <a:sy n="110" d="100"/>
        </p:scale>
        <p:origin x="-1644" y="-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presProps" Target="presProps.xml"/><Relationship Id="rId30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Úvodní snímek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 bwMode="ltGray">
          <a:xfrm>
            <a:off x="0" y="0"/>
            <a:ext cx="9143999" cy="513543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685800" y="3355848"/>
            <a:ext cx="8077200" cy="1673352"/>
          </a:xfrm>
        </p:spPr>
        <p:txBody>
          <a:bodyPr vert="horz" lIns="91440" tIns="0" rIns="45720" bIns="0" rtlCol="0" anchor="t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/>
            </a:lvl1pPr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8077200" cy="1499616"/>
          </a:xfrm>
        </p:spPr>
        <p:txBody>
          <a:bodyPr lIns="118872" tIns="0" rIns="45720" bIns="0" anchor="b"/>
          <a:lstStyle>
            <a:lvl1pPr marL="0" indent="0" algn="l">
              <a:buNone/>
              <a:defRPr sz="2000">
                <a:solidFill>
                  <a:srgbClr val="FFFFFF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r>
              <a:rPr kumimoji="0" lang="cs-CZ" smtClean="0"/>
              <a:t>Klepnutím lze upravit styl předlohy podnadpisů.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0" name="Obdélník 9"/>
          <p:cNvSpPr/>
          <p:nvPr/>
        </p:nvSpPr>
        <p:spPr bwMode="invGray">
          <a:xfrm>
            <a:off x="0" y="5128334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Nadpis a obsa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252728"/>
          </a:xfrm>
        </p:spPr>
        <p:txBody>
          <a:bodyPr/>
          <a:lstStyle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Záhlaví části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 bwMode="ltGray">
          <a:xfrm>
            <a:off x="0" y="1"/>
            <a:ext cx="9144000" cy="260252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12" name="Obdélník 11"/>
          <p:cNvSpPr/>
          <p:nvPr/>
        </p:nvSpPr>
        <p:spPr bwMode="invGray">
          <a:xfrm>
            <a:off x="0" y="2602520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749808" y="118872"/>
            <a:ext cx="8013192" cy="1636776"/>
          </a:xfrm>
        </p:spPr>
        <p:txBody>
          <a:bodyPr vert="horz" lIns="91440" tIns="0" rIns="91440" bIns="0" rtlCol="0" anchor="b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lvl1pPr algn="l">
              <a:defRPr sz="4700" b="1" cap="none" baseline="0"/>
            </a:lvl1pPr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740664" y="1828800"/>
            <a:ext cx="8022336" cy="685800"/>
          </a:xfrm>
        </p:spPr>
        <p:txBody>
          <a:bodyPr lIns="146304" tIns="0" rIns="45720" bIns="0" anchor="t"/>
          <a:lstStyle>
            <a:lvl1pPr marL="0" indent="0">
              <a:buNone/>
              <a:defRPr sz="2000">
                <a:solidFill>
                  <a:srgbClr val="FFFFFF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va obsah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sz="half" idx="1"/>
          </p:nvPr>
        </p:nvSpPr>
        <p:spPr>
          <a:xfrm>
            <a:off x="457200" y="1773936"/>
            <a:ext cx="4038600" cy="4623816"/>
          </a:xfrm>
        </p:spPr>
        <p:txBody>
          <a:bodyPr lIns="91440"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648200" y="1773936"/>
            <a:ext cx="4038600" cy="4623816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Porovnán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698987"/>
            <a:ext cx="4040188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4" name="Zástupný symbol pro obsah 3"/>
          <p:cNvSpPr>
            <a:spLocks noGrp="1"/>
          </p:cNvSpPr>
          <p:nvPr>
            <p:ph sz="half" idx="2"/>
          </p:nvPr>
        </p:nvSpPr>
        <p:spPr>
          <a:xfrm>
            <a:off x="457200" y="2449512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5" name="Zástupný symbol pro text 4"/>
          <p:cNvSpPr>
            <a:spLocks noGrp="1"/>
          </p:cNvSpPr>
          <p:nvPr>
            <p:ph type="body" sz="quarter" idx="3"/>
          </p:nvPr>
        </p:nvSpPr>
        <p:spPr>
          <a:xfrm>
            <a:off x="4645025" y="1698987"/>
            <a:ext cx="4041775" cy="715355"/>
          </a:xfrm>
        </p:spPr>
        <p:txBody>
          <a:bodyPr lIns="146304" anchor="ctr"/>
          <a:lstStyle>
            <a:lvl1pPr marL="0" indent="0">
              <a:buNone/>
              <a:defRPr sz="23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6" name="Zástupný symbol pro obsah 5"/>
          <p:cNvSpPr>
            <a:spLocks noGrp="1"/>
          </p:cNvSpPr>
          <p:nvPr>
            <p:ph sz="quarter" idx="4"/>
          </p:nvPr>
        </p:nvSpPr>
        <p:spPr>
          <a:xfrm>
            <a:off x="4645025" y="2449512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7" name="Zástupný symbol pro datum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8" name="Zástupný symbol pro zápatí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9" name="Zástupný symbol pro číslo snímku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Pouze nadp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datum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4" name="Zástupný symbol pro zápatí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Zástupný symbol pro číslo snímku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Prázdn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Zástupný symbol pro datum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3" name="Zástupný symbol pro zápatí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4" name="Zástupný symbol pro číslo snímku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Obsah s titulk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7838" y="152400"/>
            <a:ext cx="2523744" cy="978408"/>
          </a:xfrm>
        </p:spPr>
        <p:txBody>
          <a:bodyPr vert="horz" lIns="73152" rIns="45720" bIns="0" rtlCol="0" anchor="b">
            <a:normAutofit/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019377" y="1743133"/>
            <a:ext cx="5920641" cy="455888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7838" y="1730018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  <p:sp>
        <p:nvSpPr>
          <p:cNvPr id="12" name="Obdélník 11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 bwMode="invGray">
          <a:xfrm>
            <a:off x="2855737" y="0"/>
            <a:ext cx="45720" cy="1453896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Obrázek s titulkem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>
          <a:xfrm>
            <a:off x="164592" y="155448"/>
            <a:ext cx="2525150" cy="978408"/>
          </a:xfrm>
        </p:spPr>
        <p:txBody>
          <a:bodyPr lIns="73152" bIns="0" anchor="b">
            <a:sp3d prstMaterial="matte"/>
          </a:bodyPr>
          <a:lstStyle>
            <a:lvl1pPr algn="l">
              <a:defRPr sz="2000" b="0"/>
            </a:lvl1pPr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obrázek 2"/>
          <p:cNvSpPr>
            <a:spLocks noGrp="1"/>
          </p:cNvSpPr>
          <p:nvPr>
            <p:ph type="pic" idx="1"/>
          </p:nvPr>
        </p:nvSpPr>
        <p:spPr>
          <a:xfrm>
            <a:off x="2903805" y="1484808"/>
            <a:ext cx="6247397" cy="5373192"/>
          </a:xfrm>
          <a:solidFill>
            <a:schemeClr val="bg2">
              <a:shade val="75000"/>
            </a:schemeClr>
          </a:solidFill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  <a:extLst/>
          </a:lstStyle>
          <a:p>
            <a:r>
              <a:rPr kumimoji="0" lang="cs-CZ" smtClean="0"/>
              <a:t>Klepnutím na ikonu přidáte obrázek.</a:t>
            </a:r>
            <a:endParaRPr kumimoji="0" lang="en-US" dirty="0"/>
          </a:p>
        </p:txBody>
      </p:sp>
      <p:sp>
        <p:nvSpPr>
          <p:cNvPr id="4" name="Zástupný symbol pro text 3"/>
          <p:cNvSpPr>
            <a:spLocks noGrp="1"/>
          </p:cNvSpPr>
          <p:nvPr>
            <p:ph type="body" sz="half" idx="2"/>
          </p:nvPr>
        </p:nvSpPr>
        <p:spPr>
          <a:xfrm>
            <a:off x="164592" y="1728216"/>
            <a:ext cx="2468880" cy="4572000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</p:txBody>
      </p:sp>
      <p:sp>
        <p:nvSpPr>
          <p:cNvPr id="5" name="Zástupný symbol pro datum 4"/>
          <p:cNvSpPr>
            <a:spLocks noGrp="1"/>
          </p:cNvSpPr>
          <p:nvPr>
            <p:ph type="dt" sz="half" idx="10"/>
          </p:nvPr>
        </p:nvSpPr>
        <p:spPr>
          <a:xfrm>
            <a:off x="164592" y="1170432"/>
            <a:ext cx="2523744" cy="201168"/>
          </a:xfrm>
        </p:spPr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11" name="Obdélník 10"/>
          <p:cNvSpPr/>
          <p:nvPr/>
        </p:nvSpPr>
        <p:spPr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Obdélník 8"/>
          <p:cNvSpPr/>
          <p:nvPr/>
        </p:nvSpPr>
        <p:spPr bwMode="invGray">
          <a:xfrm>
            <a:off x="2855737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6" name="Zástupný symbol pro zápatí 5"/>
          <p:cNvSpPr>
            <a:spLocks noGrp="1"/>
          </p:cNvSpPr>
          <p:nvPr>
            <p:ph type="ftr" sz="quarter" idx="11"/>
          </p:nvPr>
        </p:nvSpPr>
        <p:spPr>
          <a:xfrm>
            <a:off x="3035808" y="1170432"/>
            <a:ext cx="5193792" cy="201168"/>
          </a:xfrm>
        </p:spPr>
        <p:txBody>
          <a:bodyPr/>
          <a:lstStyle>
            <a:lvl1pPr>
              <a:defRPr>
                <a:solidFill>
                  <a:schemeClr val="bg1">
                    <a:shade val="50000"/>
                  </a:schemeClr>
                </a:solidFill>
              </a:defRPr>
            </a:lvl1pPr>
          </a:lstStyle>
          <a:p>
            <a:endParaRPr lang="cs-CZ"/>
          </a:p>
        </p:txBody>
      </p:sp>
      <p:sp>
        <p:nvSpPr>
          <p:cNvPr id="7" name="Zástupný symbol pro číslo snímku 6"/>
          <p:cNvSpPr>
            <a:spLocks noGrp="1"/>
          </p:cNvSpPr>
          <p:nvPr>
            <p:ph type="sldNum" sz="quarter" idx="12"/>
          </p:nvPr>
        </p:nvSpPr>
        <p:spPr>
          <a:xfrm>
            <a:off x="8339328" y="1170432"/>
            <a:ext cx="733864" cy="201168"/>
          </a:xfrm>
        </p:spPr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Nadpis a svislý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Svislý nadpis a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Obdélník 8"/>
          <p:cNvSpPr/>
          <p:nvPr/>
        </p:nvSpPr>
        <p:spPr bwMode="invGray">
          <a:xfrm>
            <a:off x="6598920" y="0"/>
            <a:ext cx="45720" cy="685800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108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8" name="Obdélník 7"/>
          <p:cNvSpPr/>
          <p:nvPr/>
        </p:nvSpPr>
        <p:spPr bwMode="ltGray">
          <a:xfrm>
            <a:off x="6647687" y="0"/>
            <a:ext cx="2514601" cy="6858000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Svislý nadpis 1"/>
          <p:cNvSpPr>
            <a:spLocks noGrp="1"/>
          </p:cNvSpPr>
          <p:nvPr>
            <p:ph type="title" orient="vert"/>
          </p:nvPr>
        </p:nvSpPr>
        <p:spPr>
          <a:xfrm>
            <a:off x="6781800" y="274640"/>
            <a:ext cx="1905000" cy="5851525"/>
          </a:xfrm>
        </p:spPr>
        <p:txBody>
          <a:bodyPr vert="eaVert"/>
          <a:lstStyle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svislý text 2"/>
          <p:cNvSpPr>
            <a:spLocks noGrp="1"/>
          </p:cNvSpPr>
          <p:nvPr>
            <p:ph type="body" orient="vert" idx="1"/>
          </p:nvPr>
        </p:nvSpPr>
        <p:spPr>
          <a:xfrm>
            <a:off x="457200" y="304800"/>
            <a:ext cx="6019800" cy="5851525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cs-CZ" smtClean="0"/>
              <a:t>Klepnutím lze upravit styly předlohy textu.</a:t>
            </a:r>
          </a:p>
          <a:p>
            <a:pPr lvl="1" eaLnBrk="1" latinLnBrk="0" hangingPunct="1"/>
            <a:r>
              <a:rPr lang="cs-CZ" smtClean="0"/>
              <a:t>Druhá úroveň</a:t>
            </a:r>
          </a:p>
          <a:p>
            <a:pPr lvl="2" eaLnBrk="1" latinLnBrk="0" hangingPunct="1"/>
            <a:r>
              <a:rPr lang="cs-CZ" smtClean="0"/>
              <a:t>Třetí úroveň</a:t>
            </a:r>
          </a:p>
          <a:p>
            <a:pPr lvl="3" eaLnBrk="1" latinLnBrk="0" hangingPunct="1"/>
            <a:r>
              <a:rPr lang="cs-CZ" smtClean="0"/>
              <a:t>Čtvrtá úroveň</a:t>
            </a:r>
          </a:p>
          <a:p>
            <a:pPr lvl="4" eaLnBrk="1" latinLnBrk="0" hangingPunct="1"/>
            <a:r>
              <a:rPr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11"/>
          </p:nvPr>
        </p:nvSpPr>
        <p:spPr>
          <a:xfrm>
            <a:off x="2640597" y="6377459"/>
            <a:ext cx="3836404" cy="365125"/>
          </a:xfrm>
        </p:spPr>
        <p:txBody>
          <a:bodyPr/>
          <a:lstStyle/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Obdélník 9"/>
          <p:cNvSpPr/>
          <p:nvPr/>
        </p:nvSpPr>
        <p:spPr bwMode="invGray">
          <a:xfrm>
            <a:off x="0" y="1435895"/>
            <a:ext cx="9144000" cy="45720"/>
          </a:xfrm>
          <a:prstGeom prst="rect">
            <a:avLst/>
          </a:prstGeom>
          <a:solidFill>
            <a:srgbClr val="FFFFFF"/>
          </a:solidFill>
          <a:ln w="48000" cap="flat" cmpd="thickThin" algn="ctr">
            <a:noFill/>
            <a:prstDash val="solid"/>
          </a:ln>
          <a:effectLst>
            <a:outerShdw blurRad="31750" dist="10160" dir="5400000" algn="tl" rotWithShape="0">
              <a:srgbClr val="000000">
                <a:alpha val="60000"/>
              </a:srgbClr>
            </a:outerShdw>
          </a:effectLst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7" name="Obdélník 6"/>
          <p:cNvSpPr/>
          <p:nvPr/>
        </p:nvSpPr>
        <p:spPr bwMode="ltGray">
          <a:xfrm>
            <a:off x="0" y="0"/>
            <a:ext cx="9143999" cy="1433733"/>
          </a:xfrm>
          <a:prstGeom prst="rect">
            <a:avLst/>
          </a:prstGeom>
          <a:solidFill>
            <a:srgbClr val="000000"/>
          </a:solidFill>
          <a:ln w="48000" cap="flat" cmpd="thickThin" algn="ctr">
            <a:noFill/>
            <a:prstDash val="solid"/>
          </a:ln>
        </p:spPr>
        <p:style>
          <a:lnRef idx="2">
            <a:schemeClr val="accent1"/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2" name="Zástupný symbol pro nadpis 1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51062"/>
          </a:xfrm>
          <a:prstGeom prst="rect">
            <a:avLst/>
          </a:prstGeom>
        </p:spPr>
        <p:txBody>
          <a:bodyPr vert="horz" lIns="91440" rIns="45720" rtlCol="0" anchor="ctr">
            <a:normAutofit/>
            <a:scene3d>
              <a:camera prst="orthographicFront"/>
              <a:lightRig rig="threePt" dir="t">
                <a:rot lat="0" lon="0" rev="4800000"/>
              </a:lightRig>
            </a:scene3d>
            <a:sp3d prstMaterial="matte">
              <a:bevelT w="50800" h="10160"/>
            </a:sp3d>
          </a:bodyPr>
          <a:lstStyle>
            <a:extLst/>
          </a:lstStyle>
          <a:p>
            <a:r>
              <a:rPr kumimoji="0" lang="cs-CZ" smtClean="0"/>
              <a:t>Klepnutím lze upravit styl předlohy nadpisů.</a:t>
            </a:r>
            <a:endParaRPr kumimoji="0" lang="en-US"/>
          </a:p>
        </p:txBody>
      </p:sp>
      <p:sp>
        <p:nvSpPr>
          <p:cNvPr id="3" name="Zástupný symbol pro text 2"/>
          <p:cNvSpPr>
            <a:spLocks noGrp="1"/>
          </p:cNvSpPr>
          <p:nvPr>
            <p:ph type="body" idx="1"/>
          </p:nvPr>
        </p:nvSpPr>
        <p:spPr>
          <a:xfrm>
            <a:off x="457200" y="1775191"/>
            <a:ext cx="8229600" cy="4625609"/>
          </a:xfrm>
          <a:prstGeom prst="rect">
            <a:avLst/>
          </a:prstGeom>
        </p:spPr>
        <p:txBody>
          <a:bodyPr vert="horz" lIns="54864" tIns="91440" rtlCol="0">
            <a:normAutofit/>
          </a:bodyPr>
          <a:lstStyle>
            <a:extLst/>
          </a:lstStyle>
          <a:p>
            <a:pPr lvl="0" eaLnBrk="1" latinLnBrk="0" hangingPunct="1"/>
            <a:r>
              <a:rPr kumimoji="0" lang="cs-CZ" smtClean="0"/>
              <a:t>Klepnutím lze upravit styly předlohy textu.</a:t>
            </a:r>
          </a:p>
          <a:p>
            <a:pPr lvl="1" eaLnBrk="1" latinLnBrk="0" hangingPunct="1"/>
            <a:r>
              <a:rPr kumimoji="0" lang="cs-CZ" smtClean="0"/>
              <a:t>Druhá úroveň</a:t>
            </a:r>
          </a:p>
          <a:p>
            <a:pPr lvl="2" eaLnBrk="1" latinLnBrk="0" hangingPunct="1"/>
            <a:r>
              <a:rPr kumimoji="0" lang="cs-CZ" smtClean="0"/>
              <a:t>Třetí úroveň</a:t>
            </a:r>
          </a:p>
          <a:p>
            <a:pPr lvl="3" eaLnBrk="1" latinLnBrk="0" hangingPunct="1"/>
            <a:r>
              <a:rPr kumimoji="0" lang="cs-CZ" smtClean="0"/>
              <a:t>Čtvrtá úroveň</a:t>
            </a:r>
          </a:p>
          <a:p>
            <a:pPr lvl="4" eaLnBrk="1" latinLnBrk="0" hangingPunct="1"/>
            <a:r>
              <a:rPr kumimoji="0" lang="cs-CZ" smtClean="0"/>
              <a:t>Pátá úroveň</a:t>
            </a:r>
            <a:endParaRPr kumimoji="0" lang="en-US"/>
          </a:p>
        </p:txBody>
      </p:sp>
      <p:sp>
        <p:nvSpPr>
          <p:cNvPr id="4" name="Zástupný symbol pro datum 3"/>
          <p:cNvSpPr>
            <a:spLocks noGrp="1"/>
          </p:cNvSpPr>
          <p:nvPr>
            <p:ph type="dt" sz="half" idx="2"/>
          </p:nvPr>
        </p:nvSpPr>
        <p:spPr>
          <a:xfrm>
            <a:off x="457200" y="6476999"/>
            <a:ext cx="2133600" cy="274320"/>
          </a:xfrm>
          <a:prstGeom prst="rect">
            <a:avLst/>
          </a:prstGeom>
        </p:spPr>
        <p:txBody>
          <a:bodyPr vert="horz" lIns="109728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900FAD7E-B00C-485C-A1A5-BE9F9C1371A7}" type="datetimeFigureOut">
              <a:rPr lang="cs-CZ" smtClean="0"/>
              <a:pPr/>
              <a:t>5.9.2020</a:t>
            </a:fld>
            <a:endParaRPr lang="cs-CZ"/>
          </a:p>
        </p:txBody>
      </p:sp>
      <p:sp>
        <p:nvSpPr>
          <p:cNvPr id="5" name="Zástupný symbol pro zápatí 4"/>
          <p:cNvSpPr>
            <a:spLocks noGrp="1"/>
          </p:cNvSpPr>
          <p:nvPr>
            <p:ph type="ftr" sz="quarter" idx="3"/>
          </p:nvPr>
        </p:nvSpPr>
        <p:spPr>
          <a:xfrm>
            <a:off x="2640596" y="6476999"/>
            <a:ext cx="5507719" cy="274320"/>
          </a:xfrm>
          <a:prstGeom prst="rect">
            <a:avLst/>
          </a:prstGeom>
        </p:spPr>
        <p:txBody>
          <a:bodyPr vert="horz" lIns="45720" rIns="45720" bIns="0" rtlCol="0" anchor="b"/>
          <a:lstStyle>
            <a:lvl1pPr algn="l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endParaRPr lang="cs-CZ"/>
          </a:p>
        </p:txBody>
      </p:sp>
      <p:sp>
        <p:nvSpPr>
          <p:cNvPr id="6" name="Zástupný symbol pro číslo snímku 5"/>
          <p:cNvSpPr>
            <a:spLocks noGrp="1"/>
          </p:cNvSpPr>
          <p:nvPr>
            <p:ph type="sldNum" sz="quarter" idx="4"/>
          </p:nvPr>
        </p:nvSpPr>
        <p:spPr>
          <a:xfrm>
            <a:off x="8204396" y="6476999"/>
            <a:ext cx="733864" cy="274320"/>
          </a:xfrm>
          <a:prstGeom prst="rect">
            <a:avLst/>
          </a:prstGeom>
        </p:spPr>
        <p:txBody>
          <a:bodyPr vert="horz" bIns="0" rtlCol="0" anchor="b"/>
          <a:lstStyle>
            <a:lvl1pPr algn="r" eaLnBrk="1" latinLnBrk="0" hangingPunct="1">
              <a:defRPr kumimoji="0" sz="1200">
                <a:solidFill>
                  <a:schemeClr val="tx1">
                    <a:tint val="95000"/>
                  </a:schemeClr>
                </a:solidFill>
              </a:defRPr>
            </a:lvl1pPr>
            <a:extLst/>
          </a:lstStyle>
          <a:p>
            <a:fld id="{99711634-6905-435B-9DC8-C8F17961BFD5}" type="slidenum">
              <a:rPr lang="cs-CZ" smtClean="0"/>
              <a:pPr/>
              <a:t>‹#›</a:t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57" r:id="rId1"/>
    <p:sldLayoutId id="2147483758" r:id="rId2"/>
    <p:sldLayoutId id="2147483759" r:id="rId3"/>
    <p:sldLayoutId id="2147483760" r:id="rId4"/>
    <p:sldLayoutId id="2147483761" r:id="rId5"/>
    <p:sldLayoutId id="2147483762" r:id="rId6"/>
    <p:sldLayoutId id="2147483763" r:id="rId7"/>
    <p:sldLayoutId id="2147483764" r:id="rId8"/>
    <p:sldLayoutId id="2147483765" r:id="rId9"/>
    <p:sldLayoutId id="2147483766" r:id="rId10"/>
    <p:sldLayoutId id="2147483767" r:id="rId11"/>
  </p:sldLayoutIdLst>
  <p:txStyles>
    <p:titleStyle>
      <a:lvl1pPr algn="l" rtl="0" eaLnBrk="1" latinLnBrk="0" hangingPunct="1">
        <a:spcBef>
          <a:spcPct val="0"/>
        </a:spcBef>
        <a:buNone/>
        <a:defRPr kumimoji="0" sz="4500" b="1" kern="1200">
          <a:solidFill>
            <a:schemeClr val="accent1">
              <a:satMod val="150000"/>
            </a:schemeClr>
          </a:solidFill>
          <a:effectLst/>
          <a:latin typeface="+mj-lt"/>
          <a:ea typeface="+mj-ea"/>
          <a:cs typeface="+mj-cs"/>
        </a:defRPr>
      </a:lvl1pPr>
      <a:extLst/>
    </p:titleStyle>
    <p:bodyStyle>
      <a:lvl1pPr marL="438912" indent="-320040" algn="l" rtl="0" eaLnBrk="1" latinLnBrk="0" hangingPunct="1">
        <a:spcBef>
          <a:spcPts val="0"/>
        </a:spcBef>
        <a:buClr>
          <a:schemeClr val="accent1"/>
        </a:buClr>
        <a:buSzPct val="80000"/>
        <a:buFont typeface="Wingdings 2"/>
        <a:buChar char=""/>
        <a:defRPr kumimoji="0"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31520" indent="-27432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"/>
        <a:defRPr kumimoji="0"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3"/>
        </a:buClr>
        <a:buFont typeface="Arial"/>
        <a:buChar char="▪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16152" indent="-182880" algn="l" rtl="0" eaLnBrk="1" latinLnBrk="0" hangingPunct="1">
        <a:spcBef>
          <a:spcPct val="20000"/>
        </a:spcBef>
        <a:buClr>
          <a:schemeClr val="accent4"/>
        </a:buClr>
        <a:buFont typeface="Arial"/>
        <a:buChar char="▪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1426464" indent="-182880" algn="l" rtl="0" eaLnBrk="1" latinLnBrk="0" hangingPunct="1">
        <a:spcBef>
          <a:spcPct val="20000"/>
        </a:spcBef>
        <a:buClr>
          <a:schemeClr val="accent5"/>
        </a:buClr>
        <a:buFont typeface="Wingdings 3"/>
        <a:buChar char=""/>
        <a:defRPr kumimoji="0" lang="en-US" sz="2000" kern="1200" smtClean="0">
          <a:solidFill>
            <a:schemeClr val="tx1"/>
          </a:solidFill>
          <a:latin typeface="+mn-lt"/>
          <a:ea typeface="+mn-ea"/>
          <a:cs typeface="+mn-cs"/>
        </a:defRPr>
      </a:lvl5pPr>
      <a:lvl6pPr marL="1627632" indent="-182880" algn="l" rtl="0" eaLnBrk="1" latinLnBrk="0" hangingPunct="1">
        <a:spcBef>
          <a:spcPct val="20000"/>
        </a:spcBef>
        <a:buClr>
          <a:schemeClr val="accent6"/>
        </a:buClr>
        <a:buSzPct val="100000"/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182880" algn="l" rtl="0" eaLnBrk="1" latinLnBrk="0" hangingPunct="1">
        <a:spcBef>
          <a:spcPct val="20000"/>
        </a:spcBef>
        <a:buClr>
          <a:schemeClr val="accent1"/>
        </a:buClr>
        <a:buSzPct val="100000"/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2029968" indent="-182880" algn="l" rtl="0" eaLnBrk="1" latinLnBrk="0" hangingPunct="1">
        <a:spcBef>
          <a:spcPct val="20000"/>
        </a:spcBef>
        <a:buClr>
          <a:schemeClr val="accent2"/>
        </a:buClr>
        <a:buFont typeface="Wingdings 2" pitchFamily="18" charset="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2231136" indent="-182880" algn="l" rtl="0" eaLnBrk="1" latinLnBrk="0" hangingPunct="1">
        <a:spcBef>
          <a:spcPct val="20000"/>
        </a:spcBef>
        <a:buClr>
          <a:schemeClr val="accent3"/>
        </a:buClr>
        <a:buFont typeface="Wingdings 2" pitchFamily="18" charset="2"/>
        <a:buChar char=""/>
        <a:defRPr kumimoji="0" sz="18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357158" y="2071678"/>
            <a:ext cx="8077200" cy="1673352"/>
          </a:xfrm>
        </p:spPr>
        <p:txBody>
          <a:bodyPr/>
          <a:lstStyle/>
          <a:p>
            <a:pPr algn="ctr"/>
            <a:r>
              <a:rPr lang="cs-CZ" dirty="0" err="1" smtClean="0"/>
              <a:t>Faker</a:t>
            </a:r>
            <a:endParaRPr lang="cs-CZ" dirty="0"/>
          </a:p>
        </p:txBody>
      </p:sp>
      <p:sp>
        <p:nvSpPr>
          <p:cNvPr id="3" name="Podnadpis 2"/>
          <p:cNvSpPr>
            <a:spLocks noGrp="1"/>
          </p:cNvSpPr>
          <p:nvPr>
            <p:ph type="subTitle" idx="1"/>
          </p:nvPr>
        </p:nvSpPr>
        <p:spPr>
          <a:xfrm>
            <a:off x="571472" y="3214686"/>
            <a:ext cx="8077200" cy="1499616"/>
          </a:xfrm>
        </p:spPr>
        <p:txBody>
          <a:bodyPr/>
          <a:lstStyle/>
          <a:p>
            <a:pPr algn="ctr"/>
            <a:r>
              <a:rPr lang="cs-CZ" dirty="0" smtClean="0"/>
              <a:t>Generátor pseudonáhodného obsahu objektů</a:t>
            </a:r>
          </a:p>
          <a:p>
            <a:pPr algn="ctr"/>
            <a:endParaRPr lang="cs-CZ" dirty="0" smtClean="0"/>
          </a:p>
          <a:p>
            <a:pPr algn="ctr"/>
            <a:r>
              <a:rPr lang="cs-CZ" dirty="0" smtClean="0"/>
              <a:t>https://github.com/prusovak2/Faker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K čemu je to dobré?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28596" y="2214554"/>
            <a:ext cx="8229600" cy="3582635"/>
          </a:xfrm>
        </p:spPr>
        <p:txBody>
          <a:bodyPr/>
          <a:lstStyle/>
          <a:p>
            <a:r>
              <a:rPr lang="cs-CZ" dirty="0" smtClean="0"/>
              <a:t>Generování (velkého množství) obsahu, který je pseudonáhodný, ale relevantní v uživatelem definovaném kontextu</a:t>
            </a:r>
          </a:p>
          <a:p>
            <a:r>
              <a:rPr lang="cs-CZ" dirty="0" smtClean="0"/>
              <a:t>Generování testovacích dat</a:t>
            </a:r>
          </a:p>
          <a:p>
            <a:r>
              <a:rPr lang="cs-CZ" dirty="0" smtClean="0"/>
              <a:t>Generování dat pro tvorbu </a:t>
            </a:r>
            <a:r>
              <a:rPr lang="cs-CZ" dirty="0" err="1" smtClean="0"/>
              <a:t>benchmarks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Architektura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err="1" smtClean="0"/>
              <a:t>BaseFaker</a:t>
            </a:r>
            <a:r>
              <a:rPr lang="cs-CZ" dirty="0" smtClean="0"/>
              <a:t>&lt;</a:t>
            </a:r>
            <a:r>
              <a:rPr lang="cs-CZ" dirty="0" err="1" smtClean="0"/>
              <a:t>TClass</a:t>
            </a:r>
            <a:r>
              <a:rPr lang="cs-CZ" dirty="0" smtClean="0"/>
              <a:t>&gt;</a:t>
            </a:r>
          </a:p>
          <a:p>
            <a:r>
              <a:rPr lang="cs-CZ" dirty="0" err="1" smtClean="0"/>
              <a:t>RandomGeneratorAlgs</a:t>
            </a:r>
            <a:endParaRPr lang="cs-CZ" dirty="0" smtClean="0"/>
          </a:p>
          <a:p>
            <a:pPr lvl="1"/>
            <a:r>
              <a:rPr lang="cs-CZ" dirty="0" smtClean="0"/>
              <a:t>Xoshiro256**</a:t>
            </a:r>
          </a:p>
          <a:p>
            <a:pPr lvl="1"/>
            <a:r>
              <a:rPr lang="cs-CZ" dirty="0" smtClean="0"/>
              <a:t>Splitmix64</a:t>
            </a:r>
          </a:p>
          <a:p>
            <a:r>
              <a:rPr lang="cs-CZ" dirty="0" err="1" smtClean="0"/>
              <a:t>RandomGenerator</a:t>
            </a:r>
            <a:endParaRPr lang="cs-CZ" dirty="0" smtClean="0"/>
          </a:p>
          <a:p>
            <a:pPr lvl="1"/>
            <a:r>
              <a:rPr lang="cs-CZ" dirty="0" err="1" smtClean="0"/>
              <a:t>RandomChar</a:t>
            </a:r>
            <a:endParaRPr lang="cs-CZ" dirty="0" smtClean="0"/>
          </a:p>
          <a:p>
            <a:pPr lvl="1"/>
            <a:r>
              <a:rPr lang="cs-CZ" dirty="0" err="1" smtClean="0"/>
              <a:t>RandomString</a:t>
            </a:r>
            <a:endParaRPr lang="cs-CZ" dirty="0" smtClean="0"/>
          </a:p>
          <a:p>
            <a:pPr lvl="1"/>
            <a:r>
              <a:rPr lang="cs-CZ" dirty="0" err="1" smtClean="0"/>
              <a:t>RandomBasicTypes</a:t>
            </a:r>
            <a:endParaRPr lang="cs-CZ" dirty="0" smtClean="0"/>
          </a:p>
          <a:p>
            <a:pPr lvl="1"/>
            <a:r>
              <a:rPr lang="cs-CZ" dirty="0" err="1" smtClean="0"/>
              <a:t>RandomEnumerable</a:t>
            </a:r>
            <a:endParaRPr lang="cs-CZ" dirty="0" smtClean="0"/>
          </a:p>
          <a:p>
            <a:pPr lvl="1"/>
            <a:endParaRPr lang="cs-CZ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ctrTitle"/>
          </p:nvPr>
        </p:nvSpPr>
        <p:spPr>
          <a:xfrm>
            <a:off x="714348" y="2285992"/>
            <a:ext cx="8072494" cy="2000264"/>
          </a:xfrm>
        </p:spPr>
        <p:txBody>
          <a:bodyPr>
            <a:normAutofit fontScale="90000"/>
          </a:bodyPr>
          <a:lstStyle/>
          <a:p>
            <a:r>
              <a:rPr lang="cs-CZ" dirty="0" smtClean="0"/>
              <a:t>API pro vyplňování instancí uživatelem definovaných tříd pseudonáhodným obsahem</a:t>
            </a:r>
            <a:endParaRPr lang="cs-CZ" dirty="0"/>
          </a:p>
        </p:txBody>
      </p:sp>
      <p:sp>
        <p:nvSpPr>
          <p:cNvPr id="5" name="Podnadpis 4"/>
          <p:cNvSpPr>
            <a:spLocks noGrp="1"/>
          </p:cNvSpPr>
          <p:nvPr>
            <p:ph type="subTitle" idx="1"/>
          </p:nvPr>
        </p:nvSpPr>
        <p:spPr>
          <a:xfrm>
            <a:off x="214282" y="714356"/>
            <a:ext cx="8077200" cy="1499616"/>
          </a:xfrm>
        </p:spPr>
        <p:txBody>
          <a:bodyPr/>
          <a:lstStyle/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BaseFaker</a:t>
            </a:r>
            <a:r>
              <a:rPr lang="cs-CZ" dirty="0" smtClean="0"/>
              <a:t>&lt;</a:t>
            </a:r>
            <a:r>
              <a:rPr lang="cs-CZ" dirty="0" err="1" smtClean="0"/>
              <a:t>TClass</a:t>
            </a:r>
            <a:r>
              <a:rPr lang="cs-CZ" dirty="0" smtClean="0"/>
              <a:t>&gt;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4297015"/>
          </a:xfrm>
        </p:spPr>
        <p:txBody>
          <a:bodyPr>
            <a:normAutofit lnSpcReduction="10000"/>
          </a:bodyPr>
          <a:lstStyle/>
          <a:p>
            <a:r>
              <a:rPr lang="cs-CZ" sz="2800" dirty="0" smtClean="0"/>
              <a:t>Třída, co poskytuje API pro vyplňování instancí uživatelem definovaných tříd pseudonáhodným obsahem</a:t>
            </a:r>
          </a:p>
          <a:p>
            <a:r>
              <a:rPr lang="cs-CZ" sz="2800" dirty="0" smtClean="0"/>
              <a:t>Pro nakonfigurování </a:t>
            </a:r>
            <a:r>
              <a:rPr lang="cs-CZ" sz="2800" dirty="0" err="1" smtClean="0"/>
              <a:t>Fakeru</a:t>
            </a:r>
            <a:r>
              <a:rPr lang="cs-CZ" sz="2800" dirty="0" smtClean="0"/>
              <a:t> pro konkrétní typ je třeba naimplementovat jednoduchou třídu poděděnou od </a:t>
            </a:r>
            <a:r>
              <a:rPr lang="cs-CZ" sz="2800" dirty="0" err="1" smtClean="0"/>
              <a:t>BaseFakeru</a:t>
            </a:r>
            <a:r>
              <a:rPr lang="cs-CZ" sz="2800" dirty="0" smtClean="0"/>
              <a:t> specializovaného na daný typ</a:t>
            </a:r>
          </a:p>
          <a:p>
            <a:r>
              <a:rPr lang="cs-CZ" sz="2800" dirty="0" smtClean="0"/>
              <a:t>V </a:t>
            </a:r>
            <a:r>
              <a:rPr lang="cs-CZ" sz="2800" dirty="0" err="1" smtClean="0"/>
              <a:t>konstruktoru</a:t>
            </a:r>
            <a:r>
              <a:rPr lang="cs-CZ" sz="2800" dirty="0" smtClean="0"/>
              <a:t> </a:t>
            </a:r>
            <a:r>
              <a:rPr lang="cs-CZ" sz="2800" dirty="0" err="1" smtClean="0"/>
              <a:t>Faker</a:t>
            </a:r>
            <a:r>
              <a:rPr lang="cs-CZ" sz="2800" dirty="0" smtClean="0"/>
              <a:t> třídy je možné volat metody </a:t>
            </a:r>
            <a:r>
              <a:rPr lang="cs-CZ" sz="2800" dirty="0" err="1" smtClean="0"/>
              <a:t>RuleFor</a:t>
            </a:r>
            <a:r>
              <a:rPr lang="cs-CZ" sz="2800" dirty="0" smtClean="0"/>
              <a:t> a </a:t>
            </a:r>
            <a:r>
              <a:rPr lang="cs-CZ" sz="2800" dirty="0" err="1" smtClean="0"/>
              <a:t>SetFaker</a:t>
            </a:r>
            <a:endParaRPr lang="cs-CZ" sz="2800" dirty="0" smtClean="0"/>
          </a:p>
          <a:p>
            <a:r>
              <a:rPr lang="cs-CZ" sz="2800" dirty="0" smtClean="0"/>
              <a:t>Implementace využívá </a:t>
            </a:r>
            <a:r>
              <a:rPr lang="cs-CZ" sz="2800" dirty="0" err="1" smtClean="0"/>
              <a:t>reflection</a:t>
            </a:r>
            <a:endParaRPr lang="cs-CZ" sz="2800" dirty="0" smtClean="0"/>
          </a:p>
          <a:p>
            <a:pPr>
              <a:buNone/>
            </a:pP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RuleFor</a:t>
            </a:r>
            <a:r>
              <a:rPr lang="cs-CZ" dirty="0" smtClean="0"/>
              <a:t> </a:t>
            </a:r>
            <a:endParaRPr lang="cs-CZ" dirty="0"/>
          </a:p>
        </p:txBody>
      </p:sp>
      <p:pic>
        <p:nvPicPr>
          <p:cNvPr id="4" name="Zástupný symbol pro obsah 3" descr="person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42910" y="2500306"/>
            <a:ext cx="5143536" cy="2019063"/>
          </a:xfrm>
        </p:spPr>
      </p:pic>
      <p:pic>
        <p:nvPicPr>
          <p:cNvPr id="5" name="Obrázek 4" descr="person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71472" y="4572008"/>
            <a:ext cx="5258534" cy="2133898"/>
          </a:xfrm>
          <a:prstGeom prst="rect">
            <a:avLst/>
          </a:prstGeom>
        </p:spPr>
      </p:pic>
      <p:sp>
        <p:nvSpPr>
          <p:cNvPr id="6" name="TextovéPole 5"/>
          <p:cNvSpPr txBox="1"/>
          <p:nvPr/>
        </p:nvSpPr>
        <p:spPr>
          <a:xfrm>
            <a:off x="500034" y="1643050"/>
            <a:ext cx="757242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dirty="0"/>
              <a:t> </a:t>
            </a:r>
            <a:r>
              <a:rPr lang="cs-CZ" dirty="0" err="1" smtClean="0"/>
              <a:t>RuleFor</a:t>
            </a:r>
            <a:r>
              <a:rPr lang="cs-CZ" dirty="0" smtClean="0"/>
              <a:t> – nastavení pravidla pro pseudonáhodné vyplnění položek základních typů</a:t>
            </a:r>
            <a:endParaRPr lang="cs-CZ" dirty="0"/>
          </a:p>
        </p:txBody>
      </p:sp>
      <p:sp>
        <p:nvSpPr>
          <p:cNvPr id="8" name="TextovéPole 7"/>
          <p:cNvSpPr txBox="1"/>
          <p:nvPr/>
        </p:nvSpPr>
        <p:spPr>
          <a:xfrm>
            <a:off x="7215206" y="1928802"/>
            <a:ext cx="1785950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cs-CZ" dirty="0" smtClean="0"/>
              <a:t>Základní typy</a:t>
            </a:r>
          </a:p>
          <a:p>
            <a:pPr>
              <a:buFont typeface="Arial" pitchFamily="34" charset="0"/>
              <a:buChar char="•"/>
            </a:pPr>
            <a:r>
              <a:rPr lang="cs-CZ" dirty="0" smtClean="0"/>
              <a:t>Byte</a:t>
            </a:r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Sbyte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Short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Ushort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Int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Uint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Long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Ulong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Float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smtClean="0"/>
              <a:t>Double</a:t>
            </a:r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Decimal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Char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Bool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String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DateTime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 err="1" smtClean="0"/>
              <a:t>Guid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Generate</a:t>
            </a:r>
            <a:endParaRPr lang="cs-CZ" dirty="0"/>
          </a:p>
        </p:txBody>
      </p:sp>
      <p:pic>
        <p:nvPicPr>
          <p:cNvPr id="4" name="Zástupný symbol pro obsah 3" descr="generat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500034" y="3143248"/>
            <a:ext cx="5401429" cy="1305107"/>
          </a:xfrm>
        </p:spPr>
      </p:pic>
      <p:pic>
        <p:nvPicPr>
          <p:cNvPr id="5" name="Obrázek 4" descr="genera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282" y="5000636"/>
            <a:ext cx="8715404" cy="1142400"/>
          </a:xfrm>
          <a:prstGeom prst="rect">
            <a:avLst/>
          </a:prstGeom>
        </p:spPr>
      </p:pic>
      <p:sp>
        <p:nvSpPr>
          <p:cNvPr id="6" name="TextovéPole 5"/>
          <p:cNvSpPr txBox="1"/>
          <p:nvPr/>
        </p:nvSpPr>
        <p:spPr>
          <a:xfrm>
            <a:off x="428596" y="1714488"/>
            <a:ext cx="550072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dirty="0" smtClean="0"/>
              <a:t> </a:t>
            </a:r>
            <a:r>
              <a:rPr lang="cs-CZ" dirty="0" err="1" smtClean="0"/>
              <a:t>Generate</a:t>
            </a:r>
            <a:r>
              <a:rPr lang="cs-CZ" dirty="0" smtClean="0"/>
              <a:t> – vytvoření instance uživatelem definované třídy a její vyplnění pseudonáhodným obsahem dle definovaných pravidel</a:t>
            </a:r>
            <a:endParaRPr lang="cs-CZ" dirty="0"/>
          </a:p>
        </p:txBody>
      </p:sp>
      <p:sp>
        <p:nvSpPr>
          <p:cNvPr id="7" name="TextovéPole 6"/>
          <p:cNvSpPr txBox="1"/>
          <p:nvPr/>
        </p:nvSpPr>
        <p:spPr>
          <a:xfrm>
            <a:off x="571472" y="2786058"/>
            <a:ext cx="27860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dirty="0" smtClean="0"/>
              <a:t> příklad použití</a:t>
            </a:r>
            <a:endParaRPr lang="cs-CZ" dirty="0"/>
          </a:p>
        </p:txBody>
      </p:sp>
      <p:sp>
        <p:nvSpPr>
          <p:cNvPr id="8" name="TextovéPole 7"/>
          <p:cNvSpPr txBox="1"/>
          <p:nvPr/>
        </p:nvSpPr>
        <p:spPr>
          <a:xfrm>
            <a:off x="571472" y="4643446"/>
            <a:ext cx="271464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dirty="0"/>
              <a:t> </a:t>
            </a:r>
            <a:r>
              <a:rPr lang="cs-CZ" dirty="0" smtClean="0"/>
              <a:t>příklad výstupu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Varianty k </a:t>
            </a:r>
            <a:r>
              <a:rPr lang="cs-CZ" dirty="0" err="1" smtClean="0"/>
              <a:t>Generate</a:t>
            </a:r>
            <a:endParaRPr lang="cs-CZ" dirty="0"/>
          </a:p>
        </p:txBody>
      </p:sp>
      <p:pic>
        <p:nvPicPr>
          <p:cNvPr id="4" name="Zástupný symbol pro obsah 3" descr="generat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642910" y="2285992"/>
            <a:ext cx="4686334" cy="571504"/>
          </a:xfrm>
        </p:spPr>
      </p:pic>
      <p:sp>
        <p:nvSpPr>
          <p:cNvPr id="5" name="TextovéPole 4"/>
          <p:cNvSpPr txBox="1"/>
          <p:nvPr/>
        </p:nvSpPr>
        <p:spPr>
          <a:xfrm>
            <a:off x="500034" y="1785927"/>
            <a:ext cx="735811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b="1" dirty="0" smtClean="0"/>
              <a:t> </a:t>
            </a:r>
            <a:r>
              <a:rPr lang="cs-CZ" b="1" dirty="0" err="1" smtClean="0"/>
              <a:t>Populate</a:t>
            </a:r>
            <a:r>
              <a:rPr lang="cs-CZ" b="1" dirty="0" smtClean="0"/>
              <a:t> </a:t>
            </a:r>
            <a:r>
              <a:rPr lang="cs-CZ" dirty="0" smtClean="0"/>
              <a:t>– vyplnění již existující instance pseudonáhodným obsahe</a:t>
            </a:r>
            <a:r>
              <a:rPr lang="cs-CZ" dirty="0"/>
              <a:t>m</a:t>
            </a:r>
          </a:p>
        </p:txBody>
      </p:sp>
      <p:sp>
        <p:nvSpPr>
          <p:cNvPr id="6" name="TextovéPole 5"/>
          <p:cNvSpPr txBox="1"/>
          <p:nvPr/>
        </p:nvSpPr>
        <p:spPr>
          <a:xfrm>
            <a:off x="500034" y="3071810"/>
            <a:ext cx="742955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dirty="0" smtClean="0"/>
              <a:t> Vytvoření instance uživatelem definované třídy prostřednictvím volání </a:t>
            </a:r>
            <a:r>
              <a:rPr lang="cs-CZ" dirty="0" err="1" smtClean="0"/>
              <a:t>konstruktoru</a:t>
            </a:r>
            <a:r>
              <a:rPr lang="cs-CZ" dirty="0" smtClean="0"/>
              <a:t> a její následné vyplnění metodou </a:t>
            </a:r>
            <a:r>
              <a:rPr lang="cs-CZ" dirty="0" err="1" smtClean="0"/>
              <a:t>Populate</a:t>
            </a:r>
            <a:r>
              <a:rPr lang="cs-CZ" dirty="0" smtClean="0"/>
              <a:t> lze doporučit, neboť se tento postup vyhýbá volání </a:t>
            </a:r>
            <a:r>
              <a:rPr lang="cs-CZ" dirty="0" err="1" smtClean="0"/>
              <a:t>konstruktoru</a:t>
            </a:r>
            <a:r>
              <a:rPr lang="cs-CZ" dirty="0" smtClean="0"/>
              <a:t> přes </a:t>
            </a:r>
            <a:r>
              <a:rPr lang="cs-CZ" dirty="0" err="1" smtClean="0"/>
              <a:t>reflection</a:t>
            </a:r>
            <a:r>
              <a:rPr lang="cs-CZ" dirty="0" smtClean="0"/>
              <a:t>, které provádí </a:t>
            </a:r>
            <a:r>
              <a:rPr lang="cs-CZ" dirty="0" err="1"/>
              <a:t>G</a:t>
            </a:r>
            <a:r>
              <a:rPr lang="cs-CZ" dirty="0" err="1" smtClean="0"/>
              <a:t>enerate</a:t>
            </a:r>
            <a:endParaRPr lang="cs-CZ" dirty="0"/>
          </a:p>
        </p:txBody>
      </p:sp>
      <p:sp>
        <p:nvSpPr>
          <p:cNvPr id="8" name="TextovéPole 7"/>
          <p:cNvSpPr txBox="1"/>
          <p:nvPr/>
        </p:nvSpPr>
        <p:spPr>
          <a:xfrm>
            <a:off x="571472" y="4572008"/>
            <a:ext cx="75009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dirty="0" smtClean="0"/>
              <a:t> </a:t>
            </a:r>
            <a:r>
              <a:rPr lang="cs-CZ" b="1" dirty="0" err="1" smtClean="0"/>
              <a:t>Generate</a:t>
            </a:r>
            <a:r>
              <a:rPr lang="cs-CZ" b="1" dirty="0" smtClean="0"/>
              <a:t>(</a:t>
            </a:r>
            <a:r>
              <a:rPr lang="cs-CZ" b="1" dirty="0" err="1" smtClean="0"/>
              <a:t>object</a:t>
            </a:r>
            <a:r>
              <a:rPr lang="en-US" b="1" dirty="0" smtClean="0"/>
              <a:t>[] </a:t>
            </a:r>
            <a:r>
              <a:rPr lang="en-US" b="1" dirty="0" err="1" smtClean="0"/>
              <a:t>CtorParams</a:t>
            </a:r>
            <a:r>
              <a:rPr lang="cs-CZ" b="1" dirty="0" smtClean="0"/>
              <a:t>) </a:t>
            </a:r>
            <a:r>
              <a:rPr lang="cs-CZ" dirty="0" smtClean="0"/>
              <a:t>– vytvoření instance uživatelem definované třídy prostřednictvím jiného než bezparametrického </a:t>
            </a:r>
            <a:r>
              <a:rPr lang="cs-CZ" dirty="0" err="1" smtClean="0"/>
              <a:t>konstruktoru</a:t>
            </a:r>
            <a:endParaRPr lang="cs-CZ" dirty="0" smtClean="0"/>
          </a:p>
          <a:p>
            <a:pPr>
              <a:buFont typeface="Arial" pitchFamily="34" charset="0"/>
              <a:buChar char="•"/>
            </a:pPr>
            <a:r>
              <a:rPr lang="cs-CZ" dirty="0"/>
              <a:t> </a:t>
            </a:r>
            <a:r>
              <a:rPr lang="cs-CZ" dirty="0" smtClean="0"/>
              <a:t>dotyčná třída musí mít </a:t>
            </a:r>
            <a:r>
              <a:rPr lang="cs-CZ" dirty="0" err="1" smtClean="0"/>
              <a:t>kostruktor</a:t>
            </a:r>
            <a:r>
              <a:rPr lang="cs-CZ" dirty="0" smtClean="0"/>
              <a:t> s odpovídajícími parametry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SetFaker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8115328" cy="582239"/>
          </a:xfrm>
        </p:spPr>
        <p:txBody>
          <a:bodyPr>
            <a:normAutofit fontScale="55000" lnSpcReduction="20000"/>
          </a:bodyPr>
          <a:lstStyle/>
          <a:p>
            <a:r>
              <a:rPr lang="cs-CZ" dirty="0" err="1" smtClean="0"/>
              <a:t>SetFaker</a:t>
            </a:r>
            <a:r>
              <a:rPr lang="cs-CZ" dirty="0" smtClean="0"/>
              <a:t> – nastavení pravidla pro pseudonáhodné vyplnění položek jiných než základních typů</a:t>
            </a:r>
            <a:endParaRPr lang="cs-CZ" dirty="0"/>
          </a:p>
        </p:txBody>
      </p:sp>
      <p:pic>
        <p:nvPicPr>
          <p:cNvPr id="4" name="Obrázek 3" descr="genera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57158" y="2428868"/>
            <a:ext cx="5143536" cy="2397255"/>
          </a:xfrm>
          <a:prstGeom prst="rect">
            <a:avLst/>
          </a:prstGeom>
        </p:spPr>
      </p:pic>
      <p:pic>
        <p:nvPicPr>
          <p:cNvPr id="6" name="Obrázek 5" descr="genera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3786182" y="3714752"/>
            <a:ext cx="5143536" cy="2963495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SetFaker</a:t>
            </a:r>
            <a:endParaRPr lang="cs-CZ" dirty="0"/>
          </a:p>
        </p:txBody>
      </p:sp>
      <p:pic>
        <p:nvPicPr>
          <p:cNvPr id="4" name="Zástupný symbol pro obsah 3" descr="generate.png"/>
          <p:cNvPicPr>
            <a:picLocks noGrp="1" noChangeAspect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1785918" y="2285992"/>
            <a:ext cx="5189847" cy="1643074"/>
          </a:xfrm>
        </p:spPr>
      </p:pic>
      <p:pic>
        <p:nvPicPr>
          <p:cNvPr id="5" name="Obrázek 4" descr="genera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14282" y="4357694"/>
            <a:ext cx="8809880" cy="1214446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Typově bezpečné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7829576" cy="1653809"/>
          </a:xfrm>
        </p:spPr>
        <p:txBody>
          <a:bodyPr>
            <a:normAutofit fontScale="70000" lnSpcReduction="20000"/>
          </a:bodyPr>
          <a:lstStyle/>
          <a:p>
            <a:r>
              <a:rPr lang="cs-CZ" dirty="0" smtClean="0"/>
              <a:t>K položce nelze přiřadit </a:t>
            </a:r>
            <a:r>
              <a:rPr lang="cs-CZ" dirty="0" err="1" smtClean="0"/>
              <a:t>Faker</a:t>
            </a:r>
            <a:r>
              <a:rPr lang="cs-CZ" dirty="0" smtClean="0"/>
              <a:t> specializovaný na jiný typ než je typ položky</a:t>
            </a:r>
          </a:p>
          <a:p>
            <a:r>
              <a:rPr lang="cs-CZ" dirty="0" smtClean="0"/>
              <a:t>Jako pravidlo k vyplnění položky nelze nastavit metodu s nekompatibilním návratovým type</a:t>
            </a:r>
          </a:p>
          <a:p>
            <a:r>
              <a:rPr lang="cs-CZ" dirty="0" err="1" smtClean="0"/>
              <a:t>Compile</a:t>
            </a:r>
            <a:r>
              <a:rPr lang="cs-CZ" dirty="0" smtClean="0"/>
              <a:t> </a:t>
            </a:r>
            <a:r>
              <a:rPr lang="cs-CZ" dirty="0" err="1" smtClean="0"/>
              <a:t>time</a:t>
            </a:r>
            <a:r>
              <a:rPr lang="cs-CZ" dirty="0" smtClean="0"/>
              <a:t> </a:t>
            </a:r>
            <a:r>
              <a:rPr lang="cs-CZ" dirty="0" err="1" smtClean="0"/>
              <a:t>error</a:t>
            </a:r>
            <a:endParaRPr lang="cs-CZ" dirty="0"/>
          </a:p>
        </p:txBody>
      </p:sp>
      <p:pic>
        <p:nvPicPr>
          <p:cNvPr id="4" name="Obrázek 3" descr="genera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71538" y="3500438"/>
            <a:ext cx="6199079" cy="270544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FillEmptyMembers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7829576" cy="1439495"/>
          </a:xfrm>
        </p:spPr>
        <p:txBody>
          <a:bodyPr>
            <a:normAutofit fontScale="77500" lnSpcReduction="20000"/>
          </a:bodyPr>
          <a:lstStyle/>
          <a:p>
            <a:r>
              <a:rPr lang="cs-CZ" dirty="0" smtClean="0"/>
              <a:t>Možnost automatického vyplnění všech položek základních typů, pro které nebylo nastaveno pravidlo či </a:t>
            </a:r>
            <a:r>
              <a:rPr lang="cs-CZ" dirty="0" err="1" smtClean="0"/>
              <a:t>Faker</a:t>
            </a:r>
            <a:r>
              <a:rPr lang="cs-CZ" dirty="0" smtClean="0"/>
              <a:t> pomocí defaultní funkce na </a:t>
            </a:r>
            <a:r>
              <a:rPr lang="cs-CZ" dirty="0" err="1" smtClean="0"/>
              <a:t>RandomGenerator</a:t>
            </a:r>
            <a:r>
              <a:rPr lang="cs-CZ" dirty="0" smtClean="0"/>
              <a:t> pro daný typ</a:t>
            </a:r>
            <a:endParaRPr lang="cs-CZ" dirty="0"/>
          </a:p>
        </p:txBody>
      </p:sp>
      <p:pic>
        <p:nvPicPr>
          <p:cNvPr id="4" name="Obrázek 3" descr="person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857224" y="4714884"/>
            <a:ext cx="4857784" cy="1971274"/>
          </a:xfrm>
          <a:prstGeom prst="rect">
            <a:avLst/>
          </a:prstGeom>
        </p:spPr>
      </p:pic>
      <p:pic>
        <p:nvPicPr>
          <p:cNvPr id="5" name="Obrázek 4" descr="genera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28662" y="3143248"/>
            <a:ext cx="5582429" cy="148610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CtorUsageFlag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500034" y="2000240"/>
            <a:ext cx="8229600" cy="4625609"/>
          </a:xfrm>
        </p:spPr>
        <p:txBody>
          <a:bodyPr/>
          <a:lstStyle/>
          <a:p>
            <a:r>
              <a:rPr lang="cs-CZ" dirty="0" smtClean="0"/>
              <a:t>Možnost nastavit, jaká metoda (</a:t>
            </a:r>
            <a:r>
              <a:rPr lang="en-US" dirty="0" smtClean="0"/>
              <a:t>Generate(),</a:t>
            </a:r>
            <a:r>
              <a:rPr lang="cs-CZ" dirty="0" smtClean="0"/>
              <a:t> </a:t>
            </a:r>
            <a:r>
              <a:rPr lang="en-US" dirty="0" smtClean="0"/>
              <a:t>Generate(object[] </a:t>
            </a:r>
            <a:r>
              <a:rPr lang="en-US" dirty="0" err="1" smtClean="0"/>
              <a:t>CtorParams</a:t>
            </a:r>
            <a:r>
              <a:rPr lang="en-US" dirty="0" smtClean="0"/>
              <a:t>) </a:t>
            </a:r>
            <a:r>
              <a:rPr lang="en-US" dirty="0" err="1" smtClean="0"/>
              <a:t>či</a:t>
            </a:r>
            <a:r>
              <a:rPr lang="en-US" dirty="0" smtClean="0"/>
              <a:t> Populate()</a:t>
            </a:r>
            <a:r>
              <a:rPr lang="cs-CZ" dirty="0" smtClean="0"/>
              <a:t>) má být na </a:t>
            </a:r>
            <a:r>
              <a:rPr lang="cs-CZ" dirty="0" err="1" smtClean="0"/>
              <a:t>Fakeru</a:t>
            </a:r>
            <a:r>
              <a:rPr lang="cs-CZ" dirty="0" smtClean="0"/>
              <a:t> volána, pokud je použit jako </a:t>
            </a:r>
            <a:r>
              <a:rPr lang="cs-CZ" dirty="0" err="1" smtClean="0"/>
              <a:t>InnerFaker</a:t>
            </a:r>
            <a:endParaRPr lang="cs-CZ" dirty="0" smtClean="0"/>
          </a:p>
          <a:p>
            <a:r>
              <a:rPr lang="cs-CZ" dirty="0" err="1" smtClean="0"/>
              <a:t>CtorParameters</a:t>
            </a:r>
            <a:endParaRPr lang="cs-CZ" dirty="0" smtClean="0"/>
          </a:p>
          <a:p>
            <a:r>
              <a:rPr lang="cs-CZ" dirty="0" smtClean="0"/>
              <a:t>Nemá vliv, když uživatel volá některou z metod přímo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ctrTitle"/>
          </p:nvPr>
        </p:nvSpPr>
        <p:spPr>
          <a:xfrm>
            <a:off x="571472" y="2857496"/>
            <a:ext cx="8077200" cy="1673352"/>
          </a:xfrm>
        </p:spPr>
        <p:txBody>
          <a:bodyPr/>
          <a:lstStyle/>
          <a:p>
            <a:pPr algn="ctr"/>
            <a:r>
              <a:rPr lang="cs-CZ" dirty="0" smtClean="0"/>
              <a:t>Generování pseudonáhodných čísel</a:t>
            </a:r>
            <a:endParaRPr lang="cs-CZ" dirty="0"/>
          </a:p>
        </p:txBody>
      </p:sp>
      <p:sp>
        <p:nvSpPr>
          <p:cNvPr id="4" name="Podnadpis 3"/>
          <p:cNvSpPr>
            <a:spLocks noGrp="1"/>
          </p:cNvSpPr>
          <p:nvPr>
            <p:ph type="subTitle" idx="1"/>
          </p:nvPr>
        </p:nvSpPr>
        <p:spPr>
          <a:xfrm>
            <a:off x="785786" y="1000108"/>
            <a:ext cx="8077200" cy="1499616"/>
          </a:xfrm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Xoshiro256**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cs-CZ" dirty="0" smtClean="0"/>
              <a:t>Tvůrci David </a:t>
            </a:r>
            <a:r>
              <a:rPr lang="cs-CZ" dirty="0" err="1" smtClean="0"/>
              <a:t>Blackman</a:t>
            </a:r>
            <a:r>
              <a:rPr lang="cs-CZ" dirty="0" smtClean="0"/>
              <a:t> a </a:t>
            </a:r>
            <a:r>
              <a:rPr lang="cs-CZ" dirty="0" err="1" smtClean="0"/>
              <a:t>Sebastiano</a:t>
            </a:r>
            <a:r>
              <a:rPr lang="cs-CZ" dirty="0" smtClean="0"/>
              <a:t> </a:t>
            </a:r>
            <a:r>
              <a:rPr lang="cs-CZ" dirty="0" err="1" smtClean="0"/>
              <a:t>Vigna</a:t>
            </a:r>
            <a:endParaRPr lang="cs-CZ" dirty="0" smtClean="0"/>
          </a:p>
          <a:p>
            <a:r>
              <a:rPr lang="cs-CZ" dirty="0" smtClean="0"/>
              <a:t>Nedokonalý ale rychlý</a:t>
            </a:r>
          </a:p>
          <a:p>
            <a:r>
              <a:rPr lang="cs-CZ" dirty="0" smtClean="0"/>
              <a:t>64 bitů vnitřního stavu třeba inicializovat na nenulové hodnoty</a:t>
            </a:r>
          </a:p>
          <a:p>
            <a:r>
              <a:rPr lang="cs-CZ" dirty="0" smtClean="0"/>
              <a:t>Splitmix64 k inicializaci vnitřního stavu</a:t>
            </a:r>
          </a:p>
          <a:p>
            <a:r>
              <a:rPr lang="cs-CZ" dirty="0" err="1" smtClean="0"/>
              <a:t>WeylSequenceSeedCounter</a:t>
            </a:r>
            <a:r>
              <a:rPr lang="cs-CZ" dirty="0" smtClean="0"/>
              <a:t> – </a:t>
            </a:r>
            <a:r>
              <a:rPr lang="cs-CZ" dirty="0" err="1" smtClean="0"/>
              <a:t>seed</a:t>
            </a:r>
            <a:r>
              <a:rPr lang="cs-CZ" dirty="0" smtClean="0"/>
              <a:t> pro </a:t>
            </a:r>
            <a:r>
              <a:rPr lang="cs-CZ" dirty="0" err="1" smtClean="0"/>
              <a:t>SplitMix</a:t>
            </a:r>
            <a:r>
              <a:rPr lang="cs-CZ" dirty="0" smtClean="0"/>
              <a:t>, </a:t>
            </a:r>
            <a:r>
              <a:rPr lang="cs-CZ" dirty="0" err="1" smtClean="0"/>
              <a:t>lock</a:t>
            </a:r>
            <a:endParaRPr lang="cs-CZ" dirty="0" smtClean="0"/>
          </a:p>
          <a:p>
            <a:r>
              <a:rPr lang="cs-CZ" dirty="0" smtClean="0"/>
              <a:t>Z výsledných 64 bitů má pouze horních 53 bitů postačující kvalitu náhodnosti – 53 bitů jako mantisa </a:t>
            </a:r>
            <a:r>
              <a:rPr lang="cs-CZ" dirty="0" err="1" smtClean="0"/>
              <a:t>doublu</a:t>
            </a:r>
            <a:r>
              <a:rPr lang="cs-CZ" dirty="0" smtClean="0"/>
              <a:t> z intervalu [0,1)</a:t>
            </a:r>
          </a:p>
          <a:p>
            <a:r>
              <a:rPr lang="cs-CZ" dirty="0" smtClean="0"/>
              <a:t>Všechny ostatní náhodné entity založeny na generování double či </a:t>
            </a:r>
            <a:r>
              <a:rPr lang="cs-CZ" dirty="0" err="1" smtClean="0"/>
              <a:t>float</a:t>
            </a:r>
            <a:endParaRPr lang="cs-CZ" dirty="0" smtClean="0"/>
          </a:p>
          <a:p>
            <a:endParaRPr lang="cs-CZ" dirty="0" smtClean="0"/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ctrTitle"/>
          </p:nvPr>
        </p:nvSpPr>
        <p:spPr>
          <a:xfrm>
            <a:off x="714348" y="3000372"/>
            <a:ext cx="7958166" cy="1501912"/>
          </a:xfrm>
        </p:spPr>
        <p:txBody>
          <a:bodyPr/>
          <a:lstStyle/>
          <a:p>
            <a:pPr algn="ctr"/>
            <a:r>
              <a:rPr lang="cs-CZ" dirty="0" err="1" smtClean="0"/>
              <a:t>RandomGenerator</a:t>
            </a:r>
            <a:endParaRPr lang="cs-CZ" dirty="0"/>
          </a:p>
        </p:txBody>
      </p:sp>
      <p:sp>
        <p:nvSpPr>
          <p:cNvPr id="5" name="Podnadpis 4"/>
          <p:cNvSpPr>
            <a:spLocks noGrp="1"/>
          </p:cNvSpPr>
          <p:nvPr>
            <p:ph type="subTitle" idx="1"/>
          </p:nvPr>
        </p:nvSpPr>
        <p:spPr>
          <a:xfrm>
            <a:off x="428596" y="428604"/>
            <a:ext cx="8077200" cy="1499616"/>
          </a:xfrm>
        </p:spPr>
        <p:txBody>
          <a:bodyPr/>
          <a:lstStyle/>
          <a:p>
            <a:endParaRPr lang="cs-CZ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RandomGenerator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8186766" cy="2868255"/>
          </a:xfrm>
        </p:spPr>
        <p:txBody>
          <a:bodyPr>
            <a:normAutofit/>
          </a:bodyPr>
          <a:lstStyle/>
          <a:p>
            <a:r>
              <a:rPr lang="cs-CZ" dirty="0" smtClean="0"/>
              <a:t>Třída, co poskytuje API ke generování pseudonáhodných hodnot různých typů</a:t>
            </a:r>
          </a:p>
          <a:p>
            <a:r>
              <a:rPr lang="cs-CZ" dirty="0" smtClean="0"/>
              <a:t>Využitelná buď v rámci </a:t>
            </a:r>
            <a:r>
              <a:rPr lang="cs-CZ" dirty="0" err="1" smtClean="0"/>
              <a:t>BaseFaker</a:t>
            </a:r>
            <a:r>
              <a:rPr lang="cs-CZ" dirty="0" smtClean="0"/>
              <a:t> či nezávisle</a:t>
            </a:r>
          </a:p>
          <a:p>
            <a:r>
              <a:rPr lang="cs-CZ" dirty="0" smtClean="0"/>
              <a:t>Nastavitelný </a:t>
            </a:r>
            <a:r>
              <a:rPr lang="cs-CZ" dirty="0" err="1" smtClean="0"/>
              <a:t>seed</a:t>
            </a:r>
            <a:r>
              <a:rPr lang="cs-CZ" dirty="0" smtClean="0"/>
              <a:t> – zopakování posloupnosti náhodných hodnot, co byla něčím zajímavá</a:t>
            </a:r>
          </a:p>
        </p:txBody>
      </p:sp>
      <p:pic>
        <p:nvPicPr>
          <p:cNvPr id="4" name="Obrázek 3" descr="genera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71472" y="5000636"/>
            <a:ext cx="8182328" cy="1024071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RandomGenerator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2939693"/>
          </a:xfrm>
        </p:spPr>
        <p:txBody>
          <a:bodyPr/>
          <a:lstStyle/>
          <a:p>
            <a:r>
              <a:rPr lang="cs-CZ" dirty="0" smtClean="0"/>
              <a:t>Vnořené třídy </a:t>
            </a:r>
            <a:r>
              <a:rPr lang="cs-CZ" dirty="0" err="1" smtClean="0"/>
              <a:t>RandomString</a:t>
            </a:r>
            <a:r>
              <a:rPr lang="cs-CZ" dirty="0" smtClean="0"/>
              <a:t>, </a:t>
            </a:r>
            <a:r>
              <a:rPr lang="cs-CZ" dirty="0" err="1" smtClean="0"/>
              <a:t>RandomChar</a:t>
            </a:r>
            <a:r>
              <a:rPr lang="cs-CZ" dirty="0" smtClean="0"/>
              <a:t>, </a:t>
            </a:r>
            <a:r>
              <a:rPr lang="cs-CZ" dirty="0" err="1" smtClean="0"/>
              <a:t>RandomBasicTypes</a:t>
            </a:r>
            <a:r>
              <a:rPr lang="cs-CZ" dirty="0" smtClean="0"/>
              <a:t> a </a:t>
            </a:r>
            <a:r>
              <a:rPr lang="cs-CZ" dirty="0" err="1" smtClean="0"/>
              <a:t>RandomEnumerable</a:t>
            </a:r>
            <a:r>
              <a:rPr lang="cs-CZ" dirty="0" smtClean="0"/>
              <a:t> – rozdělení metod do skupin pro příjemnější použití - </a:t>
            </a:r>
            <a:r>
              <a:rPr lang="cs-CZ" dirty="0" err="1" smtClean="0"/>
              <a:t>IntelliSence</a:t>
            </a:r>
            <a:endParaRPr lang="cs-CZ" dirty="0" smtClean="0"/>
          </a:p>
          <a:p>
            <a:endParaRPr lang="cs-CZ" dirty="0"/>
          </a:p>
        </p:txBody>
      </p:sp>
      <p:pic>
        <p:nvPicPr>
          <p:cNvPr id="4" name="Obrázek 3" descr="genera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3929066"/>
            <a:ext cx="9065076" cy="235745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RandomGenerator</a:t>
            </a:r>
            <a:r>
              <a:rPr lang="cs-CZ" dirty="0" smtClean="0"/>
              <a:t> - </a:t>
            </a:r>
            <a:r>
              <a:rPr lang="cs-CZ" dirty="0" err="1" smtClean="0"/>
              <a:t>examples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7901014" cy="1296619"/>
          </a:xfrm>
        </p:spPr>
        <p:txBody>
          <a:bodyPr>
            <a:normAutofit fontScale="85000" lnSpcReduction="10000"/>
          </a:bodyPr>
          <a:lstStyle/>
          <a:p>
            <a:r>
              <a:rPr lang="cs-CZ" dirty="0" smtClean="0"/>
              <a:t>Implicitní hodnoty parametrů jsou u metod generujících číselné typy využity k rozšíření API a snadnému generování hodnot z různých intervalů</a:t>
            </a:r>
            <a:endParaRPr lang="cs-CZ" dirty="0"/>
          </a:p>
        </p:txBody>
      </p:sp>
      <p:pic>
        <p:nvPicPr>
          <p:cNvPr id="5" name="Obrázek 4" descr="genera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14348" y="3214686"/>
            <a:ext cx="3650183" cy="3286148"/>
          </a:xfrm>
          <a:prstGeom prst="rect">
            <a:avLst/>
          </a:prstGeom>
        </p:spPr>
      </p:pic>
      <p:pic>
        <p:nvPicPr>
          <p:cNvPr id="6" name="Obrázek 5" descr="genera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29256" y="4071942"/>
            <a:ext cx="2124372" cy="2248214"/>
          </a:xfrm>
          <a:prstGeom prst="rect">
            <a:avLst/>
          </a:prstGeom>
        </p:spPr>
      </p:pic>
      <p:sp>
        <p:nvSpPr>
          <p:cNvPr id="7" name="TextovéPole 6"/>
          <p:cNvSpPr txBox="1"/>
          <p:nvPr/>
        </p:nvSpPr>
        <p:spPr>
          <a:xfrm>
            <a:off x="5429256" y="3643314"/>
            <a:ext cx="18573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Arial" pitchFamily="34" charset="0"/>
              <a:buChar char="•"/>
            </a:pPr>
            <a:r>
              <a:rPr lang="cs-CZ" dirty="0"/>
              <a:t> </a:t>
            </a:r>
            <a:r>
              <a:rPr lang="cs-CZ" dirty="0" smtClean="0"/>
              <a:t>Výstup:</a:t>
            </a:r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RandomGenerator</a:t>
            </a:r>
            <a:r>
              <a:rPr lang="cs-CZ" dirty="0" smtClean="0"/>
              <a:t> - </a:t>
            </a:r>
            <a:r>
              <a:rPr lang="cs-CZ" dirty="0" err="1" smtClean="0"/>
              <a:t>examples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285720" y="1714488"/>
            <a:ext cx="8229600" cy="1500198"/>
          </a:xfrm>
        </p:spPr>
        <p:txBody>
          <a:bodyPr>
            <a:normAutofit fontScale="85000" lnSpcReduction="20000"/>
          </a:bodyPr>
          <a:lstStyle/>
          <a:p>
            <a:r>
              <a:rPr lang="cs-CZ" dirty="0" smtClean="0"/>
              <a:t>Implicitní hodnoty parametrů u metod generujících náhodné </a:t>
            </a:r>
            <a:r>
              <a:rPr lang="cs-CZ" dirty="0" err="1" smtClean="0"/>
              <a:t>enumerables</a:t>
            </a:r>
            <a:r>
              <a:rPr lang="cs-CZ" dirty="0" smtClean="0"/>
              <a:t> umožňují snadno generovat </a:t>
            </a:r>
            <a:r>
              <a:rPr lang="cs-CZ" dirty="0" err="1" smtClean="0"/>
              <a:t>enumerables</a:t>
            </a:r>
            <a:r>
              <a:rPr lang="cs-CZ" dirty="0" smtClean="0"/>
              <a:t> o různém počtu prvků z různých intervalů</a:t>
            </a:r>
            <a:endParaRPr lang="cs-CZ" dirty="0"/>
          </a:p>
        </p:txBody>
      </p:sp>
      <p:pic>
        <p:nvPicPr>
          <p:cNvPr id="5" name="Obrázek 4" descr="genera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0" y="4000504"/>
            <a:ext cx="5229955" cy="1305107"/>
          </a:xfrm>
          <a:prstGeom prst="rect">
            <a:avLst/>
          </a:prstGeom>
        </p:spPr>
      </p:pic>
      <p:pic>
        <p:nvPicPr>
          <p:cNvPr id="6" name="Obrázek 5" descr="genera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228678" y="3095100"/>
            <a:ext cx="3915322" cy="37629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RandomGenerator</a:t>
            </a:r>
            <a:r>
              <a:rPr lang="cs-CZ" dirty="0" smtClean="0"/>
              <a:t> - </a:t>
            </a:r>
            <a:r>
              <a:rPr lang="cs-CZ" dirty="0" err="1" smtClean="0"/>
              <a:t>examples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8229600" cy="725115"/>
          </a:xfrm>
        </p:spPr>
        <p:txBody>
          <a:bodyPr>
            <a:normAutofit fontScale="70000" lnSpcReduction="20000"/>
          </a:bodyPr>
          <a:lstStyle/>
          <a:p>
            <a:r>
              <a:rPr lang="cs-CZ" dirty="0" smtClean="0"/>
              <a:t>Příklad různých možností generování náhodných textových řetězců</a:t>
            </a:r>
            <a:endParaRPr lang="cs-CZ" dirty="0"/>
          </a:p>
        </p:txBody>
      </p:sp>
      <p:pic>
        <p:nvPicPr>
          <p:cNvPr id="5" name="Obrázek 4" descr="generate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785786" y="4572008"/>
            <a:ext cx="7154274" cy="1352739"/>
          </a:xfrm>
          <a:prstGeom prst="rect">
            <a:avLst/>
          </a:prstGeom>
        </p:spPr>
      </p:pic>
      <p:pic>
        <p:nvPicPr>
          <p:cNvPr id="7" name="Obrázek 6" descr="generate.png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85786" y="2643182"/>
            <a:ext cx="4794881" cy="164307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err="1" smtClean="0"/>
              <a:t>GenericEnumerables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357158" y="1643050"/>
            <a:ext cx="8229600" cy="1857388"/>
          </a:xfrm>
        </p:spPr>
        <p:txBody>
          <a:bodyPr>
            <a:noAutofit/>
          </a:bodyPr>
          <a:lstStyle/>
          <a:p>
            <a:r>
              <a:rPr lang="cs-CZ" sz="2600" dirty="0" smtClean="0"/>
              <a:t>Generické metody využity při implementaci metod vracejících typované </a:t>
            </a:r>
            <a:r>
              <a:rPr lang="cs-CZ" sz="2600" dirty="0" err="1" smtClean="0"/>
              <a:t>enumerables</a:t>
            </a:r>
            <a:r>
              <a:rPr lang="cs-CZ" sz="2600" dirty="0" smtClean="0"/>
              <a:t> a různé varianty </a:t>
            </a:r>
            <a:r>
              <a:rPr lang="cs-CZ" sz="2600" dirty="0" err="1" smtClean="0"/>
              <a:t>stringů</a:t>
            </a:r>
            <a:endParaRPr lang="cs-CZ" sz="2600" dirty="0" smtClean="0"/>
          </a:p>
          <a:p>
            <a:r>
              <a:rPr lang="cs-CZ" sz="2600" dirty="0" smtClean="0"/>
              <a:t>Množství </a:t>
            </a:r>
            <a:r>
              <a:rPr lang="cs-CZ" sz="2600" dirty="0" err="1" smtClean="0"/>
              <a:t>overloadů</a:t>
            </a:r>
            <a:r>
              <a:rPr lang="cs-CZ" sz="2600" dirty="0" smtClean="0"/>
              <a:t> podle využívané </a:t>
            </a:r>
            <a:r>
              <a:rPr lang="cs-CZ" sz="2600" dirty="0" err="1" smtClean="0"/>
              <a:t>randomizační</a:t>
            </a:r>
            <a:r>
              <a:rPr lang="cs-CZ" sz="2600" dirty="0" smtClean="0"/>
              <a:t> funkce</a:t>
            </a:r>
          </a:p>
          <a:p>
            <a:r>
              <a:rPr lang="cs-CZ" sz="2600" dirty="0" smtClean="0"/>
              <a:t>Aktuálně součástí veřejného API</a:t>
            </a:r>
            <a:endParaRPr lang="cs-CZ" sz="2600" dirty="0"/>
          </a:p>
        </p:txBody>
      </p:sp>
      <p:pic>
        <p:nvPicPr>
          <p:cNvPr id="4" name="Obrázek 3" descr="generic.png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00034" y="3714752"/>
            <a:ext cx="7649643" cy="2886478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Možná rozšíření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>
          <a:xfrm>
            <a:off x="457200" y="1775191"/>
            <a:ext cx="8115328" cy="4511329"/>
          </a:xfrm>
        </p:spPr>
        <p:txBody>
          <a:bodyPr>
            <a:normAutofit fontScale="92500" lnSpcReduction="10000"/>
          </a:bodyPr>
          <a:lstStyle/>
          <a:p>
            <a:r>
              <a:rPr lang="cs-CZ" dirty="0" smtClean="0"/>
              <a:t>Rozšíření množiny generovaných náhodných entit - jména (křestní, příjmení, tituly, zaměstnání), adresy, telefonní čísla, emaily, IP adresy, více variant pro náhodné datum</a:t>
            </a:r>
          </a:p>
          <a:p>
            <a:r>
              <a:rPr lang="cs-CZ" dirty="0" smtClean="0"/>
              <a:t> Náhodný </a:t>
            </a:r>
            <a:r>
              <a:rPr lang="cs-CZ" dirty="0" err="1" smtClean="0"/>
              <a:t>string</a:t>
            </a:r>
            <a:r>
              <a:rPr lang="cs-CZ" dirty="0" smtClean="0"/>
              <a:t>, co rozložením písmen připomíná text v existujícím jazyce</a:t>
            </a:r>
          </a:p>
          <a:p>
            <a:r>
              <a:rPr lang="cs-CZ" dirty="0" smtClean="0"/>
              <a:t> </a:t>
            </a:r>
            <a:r>
              <a:rPr lang="cs-CZ" dirty="0" err="1" smtClean="0"/>
              <a:t>Nullable</a:t>
            </a:r>
            <a:r>
              <a:rPr lang="cs-CZ" dirty="0" smtClean="0"/>
              <a:t> varianty základních typů s nastavitelnou pravděpodobností výskytu </a:t>
            </a:r>
            <a:r>
              <a:rPr lang="cs-CZ" dirty="0" err="1" smtClean="0"/>
              <a:t>nullu</a:t>
            </a:r>
            <a:endParaRPr lang="cs-CZ" dirty="0" smtClean="0"/>
          </a:p>
          <a:p>
            <a:r>
              <a:rPr lang="cs-CZ" dirty="0" smtClean="0"/>
              <a:t>Náhodný výběr hodnoty z </a:t>
            </a:r>
            <a:r>
              <a:rPr lang="cs-CZ" dirty="0" err="1" smtClean="0"/>
              <a:t>Enum</a:t>
            </a:r>
            <a:endParaRPr lang="cs-CZ" dirty="0" smtClean="0"/>
          </a:p>
          <a:p>
            <a:r>
              <a:rPr lang="cs-CZ" dirty="0" err="1" smtClean="0"/>
              <a:t>Shuffle</a:t>
            </a:r>
            <a:endParaRPr lang="cs-CZ" dirty="0" smtClean="0"/>
          </a:p>
          <a:p>
            <a:endParaRPr lang="cs-CZ" dirty="0" smtClean="0"/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adpis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cs-CZ" dirty="0" smtClean="0"/>
              <a:t>Možná rozšíření</a:t>
            </a:r>
            <a:endParaRPr lang="cs-CZ" dirty="0"/>
          </a:p>
        </p:txBody>
      </p:sp>
      <p:sp>
        <p:nvSpPr>
          <p:cNvPr id="3" name="Zástupný symbol pro obsah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cs-CZ" dirty="0" smtClean="0"/>
              <a:t>Implementace dalších algoritmů pro generování pseudonáhodných čísel (</a:t>
            </a:r>
            <a:r>
              <a:rPr lang="cs-CZ" dirty="0" err="1" smtClean="0"/>
              <a:t>IRandomGeneratorAlg</a:t>
            </a:r>
            <a:r>
              <a:rPr lang="cs-CZ" dirty="0" smtClean="0"/>
              <a:t> interface zakomponováno do řešení s myšlenkou tohoto rozšíření)</a:t>
            </a:r>
          </a:p>
          <a:p>
            <a:r>
              <a:rPr lang="cs-CZ" dirty="0" err="1" smtClean="0"/>
              <a:t>IValueProvider</a:t>
            </a:r>
            <a:r>
              <a:rPr lang="cs-CZ" dirty="0" smtClean="0"/>
              <a:t> na </a:t>
            </a:r>
            <a:r>
              <a:rPr lang="cs-CZ" dirty="0" err="1" smtClean="0"/>
              <a:t>BaseFakeru</a:t>
            </a:r>
            <a:endParaRPr lang="cs-CZ" dirty="0" smtClean="0"/>
          </a:p>
          <a:p>
            <a:r>
              <a:rPr lang="cs-CZ" dirty="0" err="1" smtClean="0"/>
              <a:t>When</a:t>
            </a:r>
            <a:r>
              <a:rPr lang="cs-CZ" dirty="0" smtClean="0"/>
              <a:t> na </a:t>
            </a:r>
            <a:r>
              <a:rPr lang="cs-CZ" dirty="0" err="1" smtClean="0"/>
              <a:t>BaseFakeru</a:t>
            </a:r>
            <a:endParaRPr lang="cs-CZ" dirty="0" smtClean="0"/>
          </a:p>
          <a:p>
            <a:r>
              <a:rPr lang="cs-CZ" dirty="0" err="1" smtClean="0"/>
              <a:t>Formater</a:t>
            </a:r>
            <a:r>
              <a:rPr lang="cs-CZ" dirty="0" smtClean="0"/>
              <a:t> k </a:t>
            </a:r>
            <a:r>
              <a:rPr lang="cs-CZ" dirty="0" err="1" smtClean="0"/>
              <a:t>hexadecimal</a:t>
            </a:r>
            <a:r>
              <a:rPr lang="cs-CZ" dirty="0" smtClean="0"/>
              <a:t> </a:t>
            </a:r>
            <a:r>
              <a:rPr lang="cs-CZ" dirty="0" err="1" smtClean="0"/>
              <a:t>string</a:t>
            </a:r>
            <a:endParaRPr lang="cs-CZ" dirty="0" smtClean="0"/>
          </a:p>
          <a:p>
            <a:r>
              <a:rPr lang="cs-CZ" dirty="0" err="1" smtClean="0"/>
              <a:t>Odd</a:t>
            </a:r>
            <a:r>
              <a:rPr lang="cs-CZ" dirty="0" smtClean="0"/>
              <a:t>, </a:t>
            </a:r>
            <a:r>
              <a:rPr lang="cs-CZ" dirty="0" err="1" smtClean="0"/>
              <a:t>even</a:t>
            </a:r>
            <a:r>
              <a:rPr lang="cs-CZ" dirty="0" smtClean="0"/>
              <a:t> varianty od ostatních celočíselných typů</a:t>
            </a:r>
            <a:endParaRPr lang="cs-CZ" dirty="0" smtClean="0"/>
          </a:p>
          <a:p>
            <a:endParaRPr lang="cs-CZ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Nadpis 3"/>
          <p:cNvSpPr>
            <a:spLocks noGrp="1"/>
          </p:cNvSpPr>
          <p:nvPr>
            <p:ph type="ctrTitle"/>
          </p:nvPr>
        </p:nvSpPr>
        <p:spPr>
          <a:xfrm>
            <a:off x="571472" y="2143116"/>
            <a:ext cx="8077200" cy="1216160"/>
          </a:xfrm>
        </p:spPr>
        <p:txBody>
          <a:bodyPr/>
          <a:lstStyle/>
          <a:p>
            <a:pPr algn="ctr"/>
            <a:r>
              <a:rPr lang="cs-CZ" dirty="0" smtClean="0"/>
              <a:t>Děkuji za pozornost</a:t>
            </a:r>
            <a:endParaRPr lang="cs-CZ" dirty="0"/>
          </a:p>
        </p:txBody>
      </p:sp>
      <p:sp>
        <p:nvSpPr>
          <p:cNvPr id="5" name="Podnadpis 4"/>
          <p:cNvSpPr>
            <a:spLocks noGrp="1"/>
          </p:cNvSpPr>
          <p:nvPr>
            <p:ph type="subTitle" idx="1"/>
          </p:nvPr>
        </p:nvSpPr>
        <p:spPr>
          <a:xfrm>
            <a:off x="142844" y="3357562"/>
            <a:ext cx="8215370" cy="1714512"/>
          </a:xfrm>
        </p:spPr>
        <p:txBody>
          <a:bodyPr>
            <a:normAutofit fontScale="92500" lnSpcReduction="10000"/>
          </a:bodyPr>
          <a:lstStyle/>
          <a:p>
            <a:pPr>
              <a:buFont typeface="Arial" pitchFamily="34" charset="0"/>
              <a:buChar char="•"/>
            </a:pPr>
            <a:r>
              <a:rPr lang="cs-CZ" b="1" dirty="0" err="1" smtClean="0">
                <a:solidFill>
                  <a:srgbClr val="FFFF00"/>
                </a:solidFill>
              </a:rPr>
              <a:t>Faker</a:t>
            </a:r>
            <a:endParaRPr lang="cs-CZ" b="1" dirty="0" smtClean="0">
              <a:solidFill>
                <a:srgbClr val="FFFF00"/>
              </a:solidFill>
            </a:endParaRPr>
          </a:p>
          <a:p>
            <a:pPr>
              <a:buFont typeface="Arial" pitchFamily="34" charset="0"/>
              <a:buChar char="•"/>
            </a:pPr>
            <a:r>
              <a:rPr lang="cs-CZ" dirty="0" smtClean="0"/>
              <a:t>Jazyk C# a platforma .NET (NPRG035) a Pokročilé programování pro .NET I (NPRG038</a:t>
            </a:r>
            <a:r>
              <a:rPr lang="cs-CZ" dirty="0" smtClean="0"/>
              <a:t>)</a:t>
            </a:r>
          </a:p>
          <a:p>
            <a:pPr>
              <a:buFont typeface="Arial" pitchFamily="34" charset="0"/>
              <a:buChar char="•"/>
            </a:pPr>
            <a:r>
              <a:rPr lang="cs-CZ" dirty="0" smtClean="0"/>
              <a:t>Kateřina Průšová</a:t>
            </a:r>
          </a:p>
          <a:p>
            <a:pPr>
              <a:buFont typeface="Arial" pitchFamily="34" charset="0"/>
              <a:buChar char="•"/>
            </a:pPr>
            <a:r>
              <a:rPr lang="cs-CZ" dirty="0" smtClean="0"/>
              <a:t>https://</a:t>
            </a:r>
            <a:r>
              <a:rPr lang="cs-CZ" dirty="0" smtClean="0"/>
              <a:t>github.com/prusovak2/Faker</a:t>
            </a:r>
          </a:p>
          <a:p>
            <a:pPr>
              <a:buFont typeface="Arial" pitchFamily="34" charset="0"/>
              <a:buChar char="•"/>
            </a:pPr>
            <a:r>
              <a:rPr lang="cs-CZ" dirty="0" smtClean="0"/>
              <a:t>5.9.2020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odul">
  <a:themeElements>
    <a:clrScheme name="Modul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ul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Modul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47500"/>
                <a:satMod val="137000"/>
              </a:schemeClr>
            </a:gs>
            <a:gs pos="55000">
              <a:schemeClr val="phClr">
                <a:shade val="69000"/>
                <a:satMod val="137000"/>
              </a:schemeClr>
            </a:gs>
            <a:gs pos="100000">
              <a:schemeClr val="phClr">
                <a:shade val="98000"/>
                <a:satMod val="137000"/>
              </a:schemeClr>
            </a:gs>
          </a:gsLst>
          <a:lin ang="16200000" scaled="0"/>
        </a:gradFill>
      </a:fillStyleLst>
      <a:lnStyleLst>
        <a:ln w="6350" cap="rnd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48000" cap="flat" cmpd="thickThin" algn="ctr">
          <a:solidFill>
            <a:schemeClr val="phClr"/>
          </a:solidFill>
          <a:prstDash val="solid"/>
        </a:ln>
        <a:ln w="48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5000" dist="25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39000" dist="25400" dir="5400000" rotWithShape="0">
              <a:srgbClr val="000000">
                <a:alpha val="38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1800000"/>
            </a:lightRig>
          </a:scene3d>
          <a:sp3d prstMaterial="matte">
            <a:bevelT h="200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8000"/>
                <a:satMod val="300000"/>
              </a:schemeClr>
            </a:gs>
            <a:gs pos="12000">
              <a:schemeClr val="phClr">
                <a:tint val="48000"/>
                <a:satMod val="300000"/>
              </a:schemeClr>
            </a:gs>
            <a:gs pos="20000">
              <a:schemeClr val="phClr">
                <a:tint val="49000"/>
                <a:satMod val="300000"/>
              </a:schemeClr>
            </a:gs>
            <a:gs pos="100000">
              <a:schemeClr val="phClr">
                <a:shade val="30000"/>
              </a:schemeClr>
            </a:gs>
          </a:gsLst>
          <a:path path="circle">
            <a:fillToRect l="10000" t="-25000" r="10000" b="125000"/>
          </a:path>
        </a:gradFill>
        <a:blipFill>
          <a:blip xmlns:r="http://schemas.openxmlformats.org/officeDocument/2006/relationships" r:embed="rId1">
            <a:duotone>
              <a:schemeClr val="phClr">
                <a:shade val="75000"/>
                <a:satMod val="105000"/>
              </a:schemeClr>
              <a:schemeClr val="phClr">
                <a:tint val="95000"/>
                <a:satMod val="105000"/>
              </a:schemeClr>
            </a:duotone>
          </a:blip>
          <a:tile tx="0" ty="0" sx="38000" sy="38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Module</Template>
  <TotalTime>395</TotalTime>
  <Words>666</Words>
  <Application>Microsoft Office PowerPoint</Application>
  <PresentationFormat>Předvádění na obrazovce (4:3)</PresentationFormat>
  <Paragraphs>110</Paragraphs>
  <Slides>25</Slides>
  <Notes>0</Notes>
  <HiddenSlides>0</HiddenSlides>
  <MMClips>0</MMClips>
  <ScaleCrop>false</ScaleCrop>
  <HeadingPairs>
    <vt:vector size="4" baseType="variant">
      <vt:variant>
        <vt:lpstr>Motiv</vt:lpstr>
      </vt:variant>
      <vt:variant>
        <vt:i4>1</vt:i4>
      </vt:variant>
      <vt:variant>
        <vt:lpstr>Nadpisy snímků</vt:lpstr>
      </vt:variant>
      <vt:variant>
        <vt:i4>25</vt:i4>
      </vt:variant>
    </vt:vector>
  </HeadingPairs>
  <TitlesOfParts>
    <vt:vector size="26" baseType="lpstr">
      <vt:lpstr>Modul</vt:lpstr>
      <vt:lpstr>Faker</vt:lpstr>
      <vt:lpstr>K čemu je to dobré?</vt:lpstr>
      <vt:lpstr>Architektura</vt:lpstr>
      <vt:lpstr>API pro vyplňování instancí uživatelem definovaných tříd pseudonáhodným obsahem</vt:lpstr>
      <vt:lpstr>BaseFaker&lt;TClass&gt;</vt:lpstr>
      <vt:lpstr>RuleFor </vt:lpstr>
      <vt:lpstr>Generate</vt:lpstr>
      <vt:lpstr>Varianty k Generate</vt:lpstr>
      <vt:lpstr>SetFaker</vt:lpstr>
      <vt:lpstr>SetFaker</vt:lpstr>
      <vt:lpstr>Typově bezpečné</vt:lpstr>
      <vt:lpstr>FillEmptyMembers</vt:lpstr>
      <vt:lpstr>CtorUsageFlag</vt:lpstr>
      <vt:lpstr>Generování pseudonáhodných čísel</vt:lpstr>
      <vt:lpstr>Xoshiro256**</vt:lpstr>
      <vt:lpstr>RandomGenerator</vt:lpstr>
      <vt:lpstr>RandomGenerator</vt:lpstr>
      <vt:lpstr>RandomGenerator</vt:lpstr>
      <vt:lpstr>RandomGenerator - examples</vt:lpstr>
      <vt:lpstr>RandomGenerator - examples</vt:lpstr>
      <vt:lpstr>RandomGenerator - examples</vt:lpstr>
      <vt:lpstr>GenericEnumerables</vt:lpstr>
      <vt:lpstr>Možná rozšíření</vt:lpstr>
      <vt:lpstr>Možná rozšíření</vt:lpstr>
      <vt:lpstr>Děkuji za pozornost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Faker</dc:title>
  <dc:creator>Kacka</dc:creator>
  <cp:lastModifiedBy>Kacka</cp:lastModifiedBy>
  <cp:revision>37</cp:revision>
  <dcterms:created xsi:type="dcterms:W3CDTF">2020-09-04T14:01:30Z</dcterms:created>
  <dcterms:modified xsi:type="dcterms:W3CDTF">2020-09-05T07:27:11Z</dcterms:modified>
</cp:coreProperties>
</file>